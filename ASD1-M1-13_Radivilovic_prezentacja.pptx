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bezpośrednio</c:v>
                </c:pt>
              </c:strCache>
            </c:strRef>
          </c:tx>
          <c:spPr>
            <a:solidFill>
              <a:srgbClr val="F0A35E"/>
            </a:solidFill>
          </c:spPr>
          <c:cat>
            <c:strRef>
              <c:f>Sheet1!$A$2:$A$10</c:f>
              <c:strCache>
                <c:ptCount val="9"/>
                <c:pt idx="0">
                  <c:v>n=8, q=1</c:v>
                </c:pt>
                <c:pt idx="1">
                  <c:v>n=8, q=10</c:v>
                </c:pt>
                <c:pt idx="2">
                  <c:v>n=8, q=100</c:v>
                </c:pt>
                <c:pt idx="3">
                  <c:v>n=32, q=1</c:v>
                </c:pt>
                <c:pt idx="4">
                  <c:v>n=32, q=10</c:v>
                </c:pt>
                <c:pt idx="5">
                  <c:v>n=32, q=100</c:v>
                </c:pt>
                <c:pt idx="6">
                  <c:v>n=64, q=1</c:v>
                </c:pt>
                <c:pt idx="7">
                  <c:v>n=64, q=10</c:v>
                </c:pt>
                <c:pt idx="8">
                  <c:v>n=64, q=100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30</c:v>
                </c:pt>
                <c:pt idx="2">
                  <c:v>295</c:v>
                </c:pt>
                <c:pt idx="3">
                  <c:v>8</c:v>
                </c:pt>
                <c:pt idx="4">
                  <c:v>163</c:v>
                </c:pt>
                <c:pt idx="5">
                  <c:v>1161</c:v>
                </c:pt>
                <c:pt idx="6">
                  <c:v>42</c:v>
                </c:pt>
                <c:pt idx="7">
                  <c:v>249</c:v>
                </c:pt>
                <c:pt idx="8">
                  <c:v>2245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prefiksy (budowa + zapytania)</c:v>
                </c:pt>
              </c:strCache>
            </c:strRef>
          </c:tx>
          <c:spPr>
            <a:solidFill>
              <a:srgbClr val="1F4E8C"/>
            </a:solidFill>
          </c:spPr>
          <c:cat>
            <c:strRef>
              <c:f>Sheet1!$A$2:$A$10</c:f>
              <c:strCache>
                <c:ptCount val="9"/>
                <c:pt idx="0">
                  <c:v>n=8, q=1</c:v>
                </c:pt>
                <c:pt idx="1">
                  <c:v>n=8, q=10</c:v>
                </c:pt>
                <c:pt idx="2">
                  <c:v>n=8, q=100</c:v>
                </c:pt>
                <c:pt idx="3">
                  <c:v>n=32, q=1</c:v>
                </c:pt>
                <c:pt idx="4">
                  <c:v>n=32, q=10</c:v>
                </c:pt>
                <c:pt idx="5">
                  <c:v>n=32, q=100</c:v>
                </c:pt>
                <c:pt idx="6">
                  <c:v>n=64, q=1</c:v>
                </c:pt>
                <c:pt idx="7">
                  <c:v>n=64, q=10</c:v>
                </c:pt>
                <c:pt idx="8">
                  <c:v>n=64, q=100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</c:v>
                </c:pt>
                <c:pt idx="1">
                  <c:v>18</c:v>
                </c:pt>
                <c:pt idx="2">
                  <c:v>108</c:v>
                </c:pt>
                <c:pt idx="3">
                  <c:v>33</c:v>
                </c:pt>
                <c:pt idx="4">
                  <c:v>42</c:v>
                </c:pt>
                <c:pt idx="5">
                  <c:v>132</c:v>
                </c:pt>
                <c:pt idx="6">
                  <c:v>65</c:v>
                </c:pt>
                <c:pt idx="7">
                  <c:v>74</c:v>
                </c:pt>
                <c:pt idx="8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Dzień dobry. Temat ASD1-M1-13, sumy prefiksowe i zapytania na zakresach. Pokażę aplikację PrefiksLab, w której obie metody liczenia sum widać krok po kroku. Liczby w prawym dolnym rogu to przykład z karty: suma zakresu [1, 4) z tablicy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jest prosty: mamy dużo zapytań o sumę fragmentu tablicy. Metodą bezpośrednią każde zapytanie kosztuje tyle, ile ma elementów. Sumy prefiksowe płacą raz za budowę i potem każde zapytanie to jedno odejmowanie. Odbiorcą jest student pierwszego roku. Rysunek po prawej: P[k] to suma pierwszych k elementów, więc suma od 1 do 3 to P[4] minus P[1].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Wszystkie cztery podtematy z karty są w jednej aplikacji. Na dole jest to, co rzeczywiście działa: dwa laboratoria, sterowanie krokowe, scenariusze, porównanie, pytania i testy.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1D: P[i+1] to P[i] plus A[i], zapytanie to jedno odejmowanie. W 2D przy budowie dodaję prefiks z góry i z lewej i odejmuję ich wspólną część. Przy zapytaniu biorę cały obszar od rogu macierzy, odejmuję pas nad prostokątem i pas z lewej. Lewy-górny róg jest w obu pasach, więc odjąłem go dwa razy i muszę raz dodać. Warunek stosowania: dużo zapytań, rzadkie zmiany, operacja odwracalna.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Wszystko to zwykłe tablice JavaScriptu. Ważny jest mechanizm wersji: set zwiększa numer wersji danych, a zapytanie sprawdza, czy P zbudowano dla tej samej wersji. Dzięki temu nie da się użyć nieaktualnych sum. Migawka to stan jednego kroku, który rysuje interfejs.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Bez bibliotek: komórki to div w siatce CSS, wykres to SVG. Kluczowe są generatory: funkcja wykonuje prawdziwy algorytm i po każdej instrukcji oddaje migawkę. Przycisk Krok wywołuje next(). Te same pliki ładuje przeglądarka i Node, więc testy sprawdzają kod, który widać w aplikacji.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mój zrzut z Laboratorium 2D, w trakcie zapytania po dwóch odejmowaniach. Na macierzy M widać ×−1 w lewym-górnym rogu. Po prawej podświetlony wiersz pseudokodu i zmienne. Każdy krok wynika z wykonania kodu.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Wszystkie 24 testy przechodzą, w tym cztery stany pośrednie i test losowy. Liczniki to dodawania i odejmowania samego algorytmu. Na wykresie: przy jednym zapytaniu wygrywa metoda bezpośrednia, bo budowa kosztuje n. Od 10 zapytań wygrywają prefiksy. W macierzach z jedną zmianą prefiksy zawsze przegrywają, bo płacą dwie budowy.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Najważniejszy wniosek: sumy prefiksowe są szybkie dopiero wtedy, gdy zapytań jest dużo, a zmian mało. Ograniczenia: mierzę operacje, nie czas, i set odbudowuje całe P. Claude był dla mnie narzędziem pomocniczym. Poprawność sprawdzają testy z wartościami z karty i policzonymi ręcznie.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 tym slajdzie otwieram index.html. Kolejność: teoria, jeden przykład w 1D dokładnie krok po kroku, zmiana danych na żywo przez set, 2D z odejmowaniem obszarów, przypadek brzegowy, porównanie, pytanie dla odbiorcy i testy.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92000"/>
            <a:ext cx="1080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5E2F5"/>
                </a:solidFill>
                <a:latin typeface="Segoe UI"/>
              </a:rPr>
              <a:t>Algorytmy i struktury danych I · Mini-projekt M1 · 2026/2027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10800000" cy="144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D5E2F5"/>
                </a:solidFill>
                <a:latin typeface="Segoe UI"/>
              </a:rPr>
              <a:t>ASD1-M1-13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Sumy prefiksowe i zapytania na zakresach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312000"/>
            <a:ext cx="10800000" cy="432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Aplikacja: PrefiksLab (HTML + CSS + JavaScript)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608000"/>
            <a:ext cx="10800000" cy="108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Lukaš Radivilovič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nr indeksu 93795 · Informatyka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Uniwersytet w Białymstoku, Filia w Wilnie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4608000"/>
            <a:ext cx="540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8676000" y="4608000"/>
            <a:ext cx="540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9252000" y="4608000"/>
            <a:ext cx="540000" cy="432000"/>
          </a:xfrm>
          <a:prstGeom prst="rect">
            <a:avLst/>
          </a:prstGeom>
          <a:solidFill>
            <a:srgbClr val="FFC9C9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8000" y="4608000"/>
            <a:ext cx="540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04000" y="4608000"/>
            <a:ext cx="540000" cy="432000"/>
          </a:xfrm>
          <a:prstGeom prst="rect">
            <a:avLst/>
          </a:prstGeom>
          <a:solidFill>
            <a:srgbClr val="E8D2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80000" y="4608000"/>
            <a:ext cx="540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5148000"/>
            <a:ext cx="360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P[4] − P[1] = 10 − 2 =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Problem i 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52000"/>
            <a:ext cx="5760000" cy="432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72A45"/>
                </a:solidFill>
                <a:latin typeface="Segoe UI"/>
              </a:rPr>
              <a:t>•  Wiele pytań: „ile wynosi suma A[l..r−1]?”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72A45"/>
                </a:solidFill>
                <a:latin typeface="Segoe UI"/>
              </a:rPr>
              <a:t>•  Pętla za każdym razem: koszt = długość zakresu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72A45"/>
                </a:solidFill>
                <a:latin typeface="Segoe UI"/>
              </a:rPr>
              <a:t>•  Sumy prefiksowe: raz przygotuj, potem 1 odejmowanie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72A45"/>
                </a:solidFill>
                <a:latin typeface="Segoe UI"/>
              </a:rPr>
              <a:t>•  Odbiorca: student 1. roku, zna pętle i tablice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72A45"/>
                </a:solidFill>
                <a:latin typeface="Segoe UI"/>
              </a:rPr>
              <a:t>•  Ma umieć: zbudować P, policzyć P[r] − P[l], wyjaśnić wzór 2D i ocenić, kiedy budowa się opłaca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4000" y="1980000"/>
            <a:ext cx="540000" cy="432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1F4E8C"/>
                </a:solidFill>
                <a:latin typeface="Segoe UI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0" y="1980000"/>
            <a:ext cx="504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0" y="172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0000" y="1980000"/>
            <a:ext cx="504000" cy="432000"/>
          </a:xfrm>
          <a:prstGeom prst="rect">
            <a:avLst/>
          </a:prstGeom>
          <a:solidFill>
            <a:srgbClr val="E3F1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000" y="172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0" y="1980000"/>
            <a:ext cx="504000" cy="432000"/>
          </a:xfrm>
          <a:prstGeom prst="rect">
            <a:avLst/>
          </a:prstGeom>
          <a:solidFill>
            <a:srgbClr val="E3F1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000" y="172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0000" y="1980000"/>
            <a:ext cx="504000" cy="432000"/>
          </a:xfrm>
          <a:prstGeom prst="rect">
            <a:avLst/>
          </a:prstGeom>
          <a:solidFill>
            <a:srgbClr val="E3F1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0000" y="172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0" y="1980000"/>
            <a:ext cx="504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0" y="172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4000" y="3240000"/>
            <a:ext cx="540000" cy="432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1F4E8C"/>
                </a:solidFill>
                <a:latin typeface="Segoe UI"/>
              </a:rPr>
              <a:t>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3240000"/>
            <a:ext cx="504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0" y="298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0000" y="3240000"/>
            <a:ext cx="504000" cy="432000"/>
          </a:xfrm>
          <a:prstGeom prst="rect">
            <a:avLst/>
          </a:prstGeom>
          <a:solidFill>
            <a:srgbClr val="FFC9C9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0000" y="298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0000" y="3240000"/>
            <a:ext cx="504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000" y="298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0000" y="3240000"/>
            <a:ext cx="504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0000" y="298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60000" y="3240000"/>
            <a:ext cx="504000" cy="432000"/>
          </a:xfrm>
          <a:prstGeom prst="rect">
            <a:avLst/>
          </a:prstGeom>
          <a:solidFill>
            <a:srgbClr val="E8D2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000" y="298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00000" y="3240000"/>
            <a:ext cx="504000" cy="4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600" b="0">
                <a:solidFill>
                  <a:srgbClr val="172A45"/>
                </a:solidFill>
                <a:latin typeface="Consolas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0000" y="2988000"/>
            <a:ext cx="540000" cy="216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A6B85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0000" y="3888000"/>
            <a:ext cx="5040000" cy="108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zakres [1, 4): 1 + 3 + 4 = 8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P[4] − P[1] = 10 − 2 = 8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P[k] = suma pierwszych k elementów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Zakres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152000"/>
            <a:ext cx="2736000" cy="504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Sumowanie bez przygotowania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728000"/>
            <a:ext cx="2736000" cy="100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pętla po zakresie, 1D i 2D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punkt odniesienia dla testów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2000" y="1152000"/>
            <a:ext cx="2736000" cy="504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Sumy prefiksowe 1D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2000" y="1728000"/>
            <a:ext cx="2736000" cy="100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P z zerem na początku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suma [l, r) = P[r] − P[l]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1152000"/>
            <a:ext cx="2736000" cy="504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Sumy prefiksowe 2D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2000" y="1728000"/>
            <a:ext cx="2736000" cy="100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zerowy wiersz i kolumna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prostokąt z 4 pól 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72000" y="1152000"/>
            <a:ext cx="2736000" cy="504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Zmiana danych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2000" y="1728000"/>
            <a:ext cx="2736000" cy="100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set(i, x) i set(i, j, x)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pełna odbudowa, P nieaktualne 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024000"/>
            <a:ext cx="111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8C"/>
                </a:solidFill>
                <a:latin typeface="Segoe UI"/>
              </a:rPr>
              <a:t>Co faktycznie działa w aplikacji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3456000"/>
            <a:ext cx="5580000" cy="288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2 laboratoria (1D i 2D), po 3 metody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Krok, Start/Pauza, Reset, tempo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6 + 6 gotowych scenariuszy, własne dane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pseudokod z bieżącym wierszem i „Dlaczego ten krok”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3456000"/>
            <a:ext cx="5580000" cy="288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porównanie kosztu z karty + własny eksperyment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5 pytań, w tym 2 z aktualnego stanu + pole „Przewidź”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24 testy w Node i w przeglądarce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oznaczenia znakami, nie tylko kolorem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Algorytmy i mechanizmy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152000"/>
            <a:ext cx="5760000" cy="3528000"/>
          </a:xfrm>
          <a:prstGeom prst="rect">
            <a:avLst/>
          </a:prstGeom>
          <a:solidFill>
            <a:srgbClr val="EEF3FA"/>
          </a:solidFill>
          <a:ln w="15875">
            <a:solidFill>
              <a:srgbClr val="CB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400" b="0">
                <a:solidFill>
                  <a:srgbClr val="172A45"/>
                </a:solidFill>
                <a:latin typeface="Consola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224000"/>
            <a:ext cx="5580000" cy="342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build(A):  P[0] ← 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  dla i: P[i+1] ← P[i] + A[i]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query(l, r): P[r] − P[l]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build2D(M): P ← zera (R+1)×(C+1)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  P[i+1][j+1] ← M[i][j]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     + P[i][j+1] + P[i+1][j] − P[i][j]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query2D: P[r2][c2] − P[r1][c2]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Consolas"/>
              </a:rPr>
              <a:t>         − P[r2][c1] + P[r1][c1]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4824000"/>
            <a:ext cx="5940000" cy="144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72A45"/>
                </a:solidFill>
                <a:latin typeface="Segoe UI"/>
              </a:rPr>
              <a:t>Różnice: bezpośrednio O(r − l) na zapytanie i darmowy set; prefiksy: budowa O(n), zapytanie O(1), set = odbudowa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4E8C"/>
                </a:solidFill>
                <a:latin typeface="Segoe UI"/>
              </a:rPr>
              <a:t>Kiedy prefiksy: dużo zapytań, rzadkie zmiany, operacja odwracalna (suma, XOR; nie min/max)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0" y="1368000"/>
            <a:ext cx="3780000" cy="3024000"/>
          </a:xfrm>
          <a:prstGeom prst="rect">
            <a:avLst/>
          </a:prstGeom>
          <a:solidFill>
            <a:srgbClr val="F7F9F9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400" b="0">
                <a:solidFill>
                  <a:srgbClr val="172A45"/>
                </a:solidFill>
                <a:latin typeface="Consola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7200000" y="1368000"/>
            <a:ext cx="1512000" cy="1134000"/>
          </a:xfrm>
          <a:prstGeom prst="rect">
            <a:avLst/>
          </a:prstGeom>
          <a:solidFill>
            <a:srgbClr val="FFC9C9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100" b="0">
                <a:solidFill>
                  <a:srgbClr val="172A45"/>
                </a:solidFill>
                <a:latin typeface="Segoe UI"/>
              </a:rPr>
              <a:t>róg
−1 −1 +1 = ×0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12000" y="1368000"/>
            <a:ext cx="2268000" cy="1134000"/>
          </a:xfrm>
          <a:prstGeom prst="rect">
            <a:avLst/>
          </a:prstGeom>
          <a:solidFill>
            <a:srgbClr val="FFE4C4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100" b="0">
                <a:solidFill>
                  <a:srgbClr val="172A45"/>
                </a:solidFill>
                <a:latin typeface="Segoe UI"/>
              </a:rPr>
              <a:t>pas nad: −P[r1][c2]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0" y="2502000"/>
            <a:ext cx="1512000" cy="1890000"/>
          </a:xfrm>
          <a:prstGeom prst="rect">
            <a:avLst/>
          </a:prstGeom>
          <a:solidFill>
            <a:srgbClr val="FFE4C4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100" b="0">
                <a:solidFill>
                  <a:srgbClr val="172A45"/>
                </a:solidFill>
                <a:latin typeface="Segoe UI"/>
              </a:rPr>
              <a:t>pas z lewej:
−P[r2][c1]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12000" y="2502000"/>
            <a:ext cx="2268000" cy="1890000"/>
          </a:xfrm>
          <a:prstGeom prst="rect">
            <a:avLst/>
          </a:prstGeom>
          <a:solidFill>
            <a:srgbClr val="E3F1FF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400" b="1">
                <a:solidFill>
                  <a:srgbClr val="172A45"/>
                </a:solidFill>
                <a:latin typeface="Segoe UI"/>
              </a:rPr>
              <a:t>szukany prostokąt
×1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0" y="4464000"/>
            <a:ext cx="4320000" cy="72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72A45"/>
                </a:solidFill>
                <a:latin typeface="Segoe UI"/>
              </a:rPr>
              <a:t>całość [0,r2)×[0,c2) = P[r2][c2]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72A45"/>
                </a:solidFill>
                <a:latin typeface="Segoe UI"/>
              </a:rPr>
              <a:t>róg odjęty dwa razy → dodaj P[r1][c1]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Struktury danych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52000"/>
            <a:ext cx="5940000" cy="432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A: number[], długość 0…64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P: number[], długość n + 1, P[0] = 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M, P2D: number[][], P ma (R+1)×(C+1)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PrefixArray / PrefixMatrix: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B85"/>
                </a:solidFill>
                <a:latin typeface="Segoe UI"/>
              </a:rPr>
              <a:t>   dane, P, liczniki {add, sub}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B85"/>
                </a:solidFill>
                <a:latin typeface="Segoe UI"/>
              </a:rPr>
              <a:t>   version i builtFor: różne = P nieaktualne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Migawka kroku: line, A, P, hlA/hlP, vars, ops, coef, reason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Dlaczego tablice: dostęp O(1), małe rozmiary, suma ≤ 2000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60000" y="1224000"/>
          <a:ext cx="50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000"/>
                <a:gridCol w="1680000"/>
                <a:gridCol w="1680000"/>
              </a:tblGrid>
              <a:tr h="432000">
                <a:tc>
                  <a:txBody>
                    <a:bodyPr/>
                    <a:lstStyle/>
                    <a:p>
                      <a:r>
                        <a:rPr sz="1400" b="1"/>
                        <a:t>Struktura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Pamięć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Po set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400" b="0"/>
                        <a:t>brak (bezpośrednio)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nic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400" b="0"/>
                        <a:t>P 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P[i+1..n] ✗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400" b="0"/>
                        <a:t>P 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(R+1)(C+1)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P[a][b], a&gt;i, b&gt;j ✗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400" b="0"/>
                        <a:t>migawka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kopia na krok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nowy przebieg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Technologie i 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52000"/>
            <a:ext cx="4140000" cy="432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HTML + CSS: widok, siatki komórek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JavaScript: algorytmy i generatory function*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Node.js: testy z terminala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bez bibliotek, bez internetu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72A45"/>
                </a:solidFill>
                <a:latin typeface="Segoe UI"/>
              </a:rPr>
              <a:t>•  Git +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0000" y="1224000"/>
            <a:ext cx="3060000" cy="360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algorithms.js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0000" y="1584000"/>
            <a:ext cx="3060000" cy="648000"/>
          </a:xfrm>
          <a:prstGeom prst="rect">
            <a:avLst/>
          </a:prstGeom>
          <a:solidFill>
            <a:srgbClr val="EEF3FA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200" b="0">
                <a:solidFill>
                  <a:srgbClr val="172A45"/>
                </a:solidFill>
                <a:latin typeface="Segoe UI"/>
              </a:rPr>
              <a:t>badane algorytmy
walidacja, liczniki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2736000"/>
            <a:ext cx="3060000" cy="360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steps.js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0000" y="3096000"/>
            <a:ext cx="3060000" cy="648000"/>
          </a:xfrm>
          <a:prstGeom prst="rect">
            <a:avLst/>
          </a:prstGeom>
          <a:solidFill>
            <a:srgbClr val="EEF3FA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200" b="0">
                <a:solidFill>
                  <a:srgbClr val="172A45"/>
                </a:solidFill>
                <a:latin typeface="Segoe UI"/>
              </a:rPr>
              <a:t>generatory kroków
pseudokod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0000" y="1224000"/>
            <a:ext cx="3060000" cy="360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compare.js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0000" y="1584000"/>
            <a:ext cx="3060000" cy="648000"/>
          </a:xfrm>
          <a:prstGeom prst="rect">
            <a:avLst/>
          </a:prstGeom>
          <a:solidFill>
            <a:srgbClr val="EEF3FA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200" b="0">
                <a:solidFill>
                  <a:srgbClr val="172A45"/>
                </a:solidFill>
                <a:latin typeface="Segoe UI"/>
              </a:rPr>
              <a:t>eksperymenty
z karty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0000" y="2736000"/>
            <a:ext cx="3060000" cy="360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test-cases.js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0000" y="3096000"/>
            <a:ext cx="3060000" cy="648000"/>
          </a:xfrm>
          <a:prstGeom prst="rect">
            <a:avLst/>
          </a:prstGeom>
          <a:solidFill>
            <a:srgbClr val="EEF3FA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200" b="0">
                <a:solidFill>
                  <a:srgbClr val="172A45"/>
                </a:solidFill>
                <a:latin typeface="Segoe UI"/>
              </a:rPr>
              <a:t>24 testy
Node + przeglądarka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0" y="4392000"/>
            <a:ext cx="3060000" cy="360000"/>
          </a:xfrm>
          <a:prstGeom prst="rect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app.js + index.html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0000" y="4752000"/>
            <a:ext cx="3060000" cy="648000"/>
          </a:xfrm>
          <a:prstGeom prst="rect">
            <a:avLst/>
          </a:prstGeom>
          <a:solidFill>
            <a:srgbClr val="EEF3FA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1200" b="0">
                <a:solidFill>
                  <a:srgbClr val="172A45"/>
                </a:solidFill>
                <a:latin typeface="Segoe UI"/>
              </a:rPr>
              <a:t>odtwarzacz Player, rysowanie,
pytania, porównanie, testy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52000" y="2232000"/>
            <a:ext cx="0" cy="504000"/>
          </a:xfrm>
          <a:prstGeom prst="line">
            <a:avLst/>
          </a:prstGeom>
          <a:ln w="25400">
            <a:solidFill>
              <a:srgbClr val="5A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00000" y="1728000"/>
            <a:ext cx="540000" cy="0"/>
          </a:xfrm>
          <a:prstGeom prst="line">
            <a:avLst/>
          </a:prstGeom>
          <a:ln w="25400">
            <a:solidFill>
              <a:srgbClr val="5A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00000" y="3240000"/>
            <a:ext cx="540000" cy="0"/>
          </a:xfrm>
          <a:prstGeom prst="line">
            <a:avLst/>
          </a:prstGeom>
          <a:ln w="25400">
            <a:solidFill>
              <a:srgbClr val="5A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52000" y="3744000"/>
            <a:ext cx="648000" cy="648000"/>
          </a:xfrm>
          <a:prstGeom prst="line">
            <a:avLst/>
          </a:prstGeom>
          <a:ln w="25400">
            <a:solidFill>
              <a:srgbClr val="5A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640000" y="3744000"/>
            <a:ext cx="1512000" cy="648000"/>
          </a:xfrm>
          <a:prstGeom prst="line">
            <a:avLst/>
          </a:prstGeom>
          <a:ln w="25400">
            <a:solidFill>
              <a:srgbClr val="5A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Realizacja i interfejs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7 / 10</a:t>
            </a:r>
          </a:p>
        </p:txBody>
      </p:sp>
      <p:pic>
        <p:nvPicPr>
          <p:cNvPr id="6" name="Picture 5" descr="lab2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24000"/>
            <a:ext cx="5868000" cy="40237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8000" y="1152000"/>
            <a:ext cx="5400000" cy="504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Etapy: algorytmy → kroki → testy → interfejs → porównanie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Krok = next() generatora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Zmiana danych = nowy generator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Podświetlony wiersz pseudokodu ▶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„Dlaczego ten krok” z liczbami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×k: ile razy pole jest wliczone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2A45"/>
                </a:solidFill>
                <a:latin typeface="Segoe UI"/>
              </a:rPr>
              <a:t>•  Znaki + − = ✗ ✎ ? obok kolorów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Testy i porównanie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8 / 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1008000"/>
          <a:ext cx="7200000" cy="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5400000"/>
            <a:ext cx="7200000" cy="72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85"/>
                </a:solidFill>
                <a:latin typeface="Segoe UI"/>
              </a:rPr>
              <a:t>Liczba dodawań + odejmowań, te same losowe zapytania (ziarno 2026). Macierze 10×10, 1 set + 1 zapytanie: bezpośrednio 20–100, prefiksy 603.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0" y="1152000"/>
            <a:ext cx="4032000" cy="504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Testy: 24/24 OK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85"/>
                </a:solidFill>
                <a:latin typeface="Segoe UI"/>
              </a:rPr>
              <a:t>   karta, brzegowe, walidacja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85"/>
                </a:solidFill>
                <a:latin typeface="Segoe UI"/>
              </a:rPr>
              <a:t>   4 stany pośrednie (T17–T20)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85"/>
                </a:solidFill>
                <a:latin typeface="Segoe UI"/>
              </a:rPr>
              <a:t>   1000 losowych: prefiksy = bezpośrednio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Licznik add = liczba +, sub = liczba −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Liczniki pomijają walidację i animację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q = 1: bezpośrednio taniej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q ≥ 10: prefiksy taniej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Wnioski i ograniczenia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80000"/>
            <a:ext cx="558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8C"/>
                </a:solidFill>
                <a:latin typeface="Segoe UI"/>
              </a:rPr>
              <a:t>Co wykazałem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512000"/>
            <a:ext cx="5580000" cy="21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n = 64, q = 100: 2245 → 164 operacji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budowa zwraca się dopiero przy wielu zapytaniach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częste set psują zysk (pełna odbudowa)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312000"/>
            <a:ext cx="558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8C"/>
                </a:solidFill>
                <a:latin typeface="Segoe UI"/>
              </a:rPr>
              <a:t>Ograniczenia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744000"/>
            <a:ext cx="5580000" cy="21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koszt w operacjach, nie w milisekundach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set odbudowuje całe P (wystarczy P[i+1..n])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A45"/>
                </a:solidFill>
                <a:latin typeface="Segoe UI"/>
              </a:rPr>
              <a:t>•  małe rozmiary z karty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1080000"/>
            <a:ext cx="558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8C"/>
                </a:solidFill>
                <a:latin typeface="Segoe UI"/>
              </a:rPr>
              <a:t>Własny wkład, źródła,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512000"/>
            <a:ext cx="5580000" cy="432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 wkład: koncepcja wizualizacji (×k, „Przewidź”), liczniki i porównanie, dobór testów, weryfikacja wyników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 źródła: USACO Guide (Prefix Sums), CPH rozdz. 9.1, karta tematu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 AI: Claude (Anthropic) jako narzędzie pomocnicze przy kodzie, tekstach i slajdach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A45"/>
                </a:solidFill>
                <a:latin typeface="Segoe UI"/>
              </a:rPr>
              <a:t>•  kontrola: wyniki z karty i liczone ręcznie w testach, test losowy, porównanie kroków z funkcjami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0440000" cy="576000"/>
          </a:xfrm>
          <a:prstGeom prst="rect">
            <a:avLst/>
          </a:prstGeom>
          <a:noFill/>
        </p:spPr>
        <p:txBody>
          <a:bodyPr wrap="square" anchor="ctr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Plan demonstracji produktu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62000"/>
            <a:ext cx="792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ASD1-M1-13 · PrefiksLab · Lukaš Radivilovič (93795)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3200" y="6462000"/>
            <a:ext cx="1080000" cy="288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85"/>
                </a:solidFill>
                <a:latin typeface="Segoe UI"/>
              </a:rPr>
              <a:t>10 / 10</a:t>
            </a:r>
          </a:p>
        </p:txBody>
      </p:sp>
      <p:sp>
        <p:nvSpPr>
          <p:cNvPr id="6" name="Oval 5"/>
          <p:cNvSpPr/>
          <p:nvPr/>
        </p:nvSpPr>
        <p:spPr>
          <a:xfrm>
            <a:off x="432000" y="1224000"/>
            <a:ext cx="576000" cy="576000"/>
          </a:xfrm>
          <a:prstGeom prst="ellipse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152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A45"/>
                </a:solidFill>
                <a:latin typeface="Segoe UI"/>
              </a:rPr>
              <a:t>Teoria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1512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85"/>
                </a:solidFill>
                <a:latin typeface="Segoe UI"/>
              </a:rPr>
              <a:t>cel, działanie, zastosowania, ograniczenia</a:t>
            </a:r>
          </a:p>
        </p:txBody>
      </p:sp>
      <p:sp>
        <p:nvSpPr>
          <p:cNvPr id="9" name="Oval 8"/>
          <p:cNvSpPr/>
          <p:nvPr/>
        </p:nvSpPr>
        <p:spPr>
          <a:xfrm>
            <a:off x="432000" y="2448000"/>
            <a:ext cx="576000" cy="576000"/>
          </a:xfrm>
          <a:prstGeom prst="ellipse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2376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A45"/>
                </a:solidFill>
                <a:latin typeface="Segoe UI"/>
              </a:rPr>
              <a:t>Laboratorium 1D krok po kroku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000" y="2736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85"/>
                </a:solidFill>
                <a:latin typeface="Segoe UI"/>
              </a:rPr>
              <a:t>przykład z karty: P = [0,2,3,6,10,15], suma 8</a:t>
            </a:r>
          </a:p>
        </p:txBody>
      </p:sp>
      <p:sp>
        <p:nvSpPr>
          <p:cNvPr id="12" name="Oval 11"/>
          <p:cNvSpPr/>
          <p:nvPr/>
        </p:nvSpPr>
        <p:spPr>
          <a:xfrm>
            <a:off x="432000" y="3672000"/>
            <a:ext cx="576000" cy="576000"/>
          </a:xfrm>
          <a:prstGeom prst="ellipse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3600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A45"/>
                </a:solidFill>
                <a:latin typeface="Segoe UI"/>
              </a:rPr>
              <a:t>Zmiana danych na żywo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3960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85"/>
                </a:solidFill>
                <a:latin typeface="Segoe UI"/>
              </a:rPr>
              <a:t>set(2,5) → P nieaktualne ✗ → odbudowa → 10</a:t>
            </a:r>
          </a:p>
        </p:txBody>
      </p:sp>
      <p:sp>
        <p:nvSpPr>
          <p:cNvPr id="15" name="Oval 14"/>
          <p:cNvSpPr/>
          <p:nvPr/>
        </p:nvSpPr>
        <p:spPr>
          <a:xfrm>
            <a:off x="432000" y="4896000"/>
            <a:ext cx="576000" cy="576000"/>
          </a:xfrm>
          <a:prstGeom prst="ellipse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4824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A45"/>
                </a:solidFill>
                <a:latin typeface="Segoe UI"/>
              </a:rPr>
              <a:t>Laboratorium 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5184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85"/>
                </a:solidFill>
                <a:latin typeface="Segoe UI"/>
              </a:rPr>
              <a:t>prostokąt w środku: ×k, róg odjęty dwa razy</a:t>
            </a:r>
          </a:p>
        </p:txBody>
      </p:sp>
      <p:sp>
        <p:nvSpPr>
          <p:cNvPr id="18" name="Oval 17"/>
          <p:cNvSpPr/>
          <p:nvPr/>
        </p:nvSpPr>
        <p:spPr>
          <a:xfrm>
            <a:off x="6192000" y="1224000"/>
            <a:ext cx="576000" cy="576000"/>
          </a:xfrm>
          <a:prstGeom prst="ellipse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000" y="1152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A45"/>
                </a:solidFill>
                <a:latin typeface="Segoe UI"/>
              </a:rPr>
              <a:t>Przypadek brzegowy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000" y="1512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85"/>
                </a:solidFill>
                <a:latin typeface="Segoe UI"/>
              </a:rPr>
              <a:t>pusta tablica, odwrócony zakres [3,1)</a:t>
            </a:r>
          </a:p>
        </p:txBody>
      </p:sp>
      <p:sp>
        <p:nvSpPr>
          <p:cNvPr id="21" name="Oval 20"/>
          <p:cNvSpPr/>
          <p:nvPr/>
        </p:nvSpPr>
        <p:spPr>
          <a:xfrm>
            <a:off x="6192000" y="2448000"/>
            <a:ext cx="576000" cy="576000"/>
          </a:xfrm>
          <a:prstGeom prst="ellipse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000" y="2376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A45"/>
                </a:solidFill>
                <a:latin typeface="Segoe UI"/>
              </a:rPr>
              <a:t>Porównanie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000" y="2736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85"/>
                </a:solidFill>
                <a:latin typeface="Segoe UI"/>
              </a:rPr>
              <a:t>n = 8/32/64, q = 1/10/100, macierze</a:t>
            </a:r>
          </a:p>
        </p:txBody>
      </p:sp>
      <p:sp>
        <p:nvSpPr>
          <p:cNvPr id="24" name="Oval 23"/>
          <p:cNvSpPr/>
          <p:nvPr/>
        </p:nvSpPr>
        <p:spPr>
          <a:xfrm>
            <a:off x="6192000" y="3672000"/>
            <a:ext cx="576000" cy="576000"/>
          </a:xfrm>
          <a:prstGeom prst="ellipse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2000" y="3600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A45"/>
                </a:solidFill>
                <a:latin typeface="Segoe UI"/>
              </a:rPr>
              <a:t>Pytanie dla odbiorcy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000" y="3960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85"/>
                </a:solidFill>
                <a:latin typeface="Segoe UI"/>
              </a:rPr>
              <a:t>dlaczego dodajemy róg z powrotem?</a:t>
            </a:r>
          </a:p>
        </p:txBody>
      </p:sp>
      <p:sp>
        <p:nvSpPr>
          <p:cNvPr id="27" name="Oval 26"/>
          <p:cNvSpPr/>
          <p:nvPr/>
        </p:nvSpPr>
        <p:spPr>
          <a:xfrm>
            <a:off x="6192000" y="4896000"/>
            <a:ext cx="576000" cy="576000"/>
          </a:xfrm>
          <a:prstGeom prst="ellipse">
            <a:avLst/>
          </a:prstGeom>
          <a:solidFill>
            <a:srgbClr val="1F4E8C"/>
          </a:solidFill>
          <a:ln w="15875">
            <a:solidFill>
              <a:srgbClr val="A7B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28800" bIns="288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000" y="4824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A45"/>
                </a:solidFill>
                <a:latin typeface="Segoe UI"/>
              </a:rPr>
              <a:t>Testy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000" y="5184000"/>
            <a:ext cx="48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85"/>
                </a:solidFill>
                <a:latin typeface="Segoe UI"/>
              </a:rPr>
              <a:t>node tests/run-tests.js → 24/24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5922000"/>
            <a:ext cx="11160000" cy="360000"/>
          </a:xfrm>
          <a:prstGeom prst="rect">
            <a:avLst/>
          </a:prstGeom>
          <a:noFill/>
        </p:spPr>
        <p:txBody>
          <a:bodyPr wrap="square" anchor="t" lIns="54000" rIns="540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8C"/>
                </a:solidFill>
                <a:latin typeface="Segoe UI"/>
              </a:rPr>
              <a:t>Teraz uruchamiam aplikację: 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